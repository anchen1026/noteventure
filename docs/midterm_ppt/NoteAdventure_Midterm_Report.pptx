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67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871655" y="0"/>
            <a:ext cx="320040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551615" y="0"/>
            <a:ext cx="320040" cy="256032"/>
          </a:xfrm>
          <a:prstGeom prst="rect">
            <a:avLst/>
          </a:prstGeom>
          <a:solidFill>
            <a:srgbClr val="FF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320040" cy="256032"/>
          </a:xfrm>
          <a:prstGeom prst="rect">
            <a:avLst/>
          </a:prstGeom>
          <a:solidFill>
            <a:srgbClr val="FFD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911535" y="0"/>
            <a:ext cx="32004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1F2937"/>
                </a:solidFill>
                <a:latin typeface="Microsoft JhengHei"/>
              </a:rPr>
              <a:t>NoteAdventure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FF5A52"/>
                </a:solidFill>
                <a:latin typeface="Microsoft JhengHei"/>
              </a:rPr>
              <a:t>音樂練習 RPG 系統 ｜ 期中專題報告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49039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374151"/>
                </a:solidFill>
                <a:latin typeface="Microsoft JhengHei"/>
              </a:rPr>
              <a:t>從老師難以追蹤練習出發</a:t>
            </a:r>
          </a:p>
          <a:p>
            <a:pPr algn="ctr"/>
            <a:r>
              <a:rPr sz="1800" b="0">
                <a:solidFill>
                  <a:srgbClr val="374151"/>
                </a:solidFill>
                <a:latin typeface="Microsoft JhengHei"/>
              </a:rPr>
              <a:t>用遊戲化激勵上傳，並以實際畫面展示：Console → Streamlit → 學生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JhengHei"/>
              </a:rPr>
              <a:t>NoteAdventure ｜ 期中專題報告 ｜ 1/16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688775" y="6446520"/>
            <a:ext cx="201168" cy="201168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871655" y="0"/>
            <a:ext cx="320040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551615" y="0"/>
            <a:ext cx="320040" cy="256032"/>
          </a:xfrm>
          <a:prstGeom prst="rect">
            <a:avLst/>
          </a:prstGeom>
          <a:solidFill>
            <a:srgbClr val="FF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320040" cy="256032"/>
          </a:xfrm>
          <a:prstGeom prst="rect">
            <a:avLst/>
          </a:prstGeom>
          <a:solidFill>
            <a:srgbClr val="FFD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911535" y="0"/>
            <a:ext cx="32004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Microsoft JhengHei"/>
              </a:rPr>
              <a:t>報告大綱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941832"/>
            <a:ext cx="1097280" cy="7315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1. 開發原點：想解決什麼問題？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2. 解方方向：遊戲化練習與上傳動機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3. 開發演進與實際操作畫面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　　• Console 一小段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　　• Streamlit 老師前端操作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　　• 學生 HTML UI 操作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4. 系統架構與重要功能邏輯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5. 目前成果與下一步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JhengHei"/>
              </a:rPr>
              <a:t>NoteAdventure ｜ 期中專題報告 ｜ 2/16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688775" y="6446520"/>
            <a:ext cx="201168" cy="201168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871655" y="0"/>
            <a:ext cx="320040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551615" y="0"/>
            <a:ext cx="320040" cy="256032"/>
          </a:xfrm>
          <a:prstGeom prst="rect">
            <a:avLst/>
          </a:prstGeom>
          <a:solidFill>
            <a:srgbClr val="FF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320040" cy="256032"/>
          </a:xfrm>
          <a:prstGeom prst="rect">
            <a:avLst/>
          </a:prstGeom>
          <a:solidFill>
            <a:srgbClr val="FFD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911535" y="0"/>
            <a:ext cx="32004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Microsoft JhengHei"/>
              </a:rPr>
              <a:t>開發原點：老師的痛點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941832"/>
            <a:ext cx="1097280" cy="7315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48640" y="1280160"/>
            <a:ext cx="110642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10332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一對一音樂課裡，老師最常遇到的不是「不會教」，而是：</a:t>
            </a:r>
          </a:p>
          <a:p>
            <a:pPr>
              <a:spcAft>
                <a:spcPts val="800"/>
              </a:spcAft>
            </a:pPr>
            <a:endParaRPr sz="2000" b="0">
              <a:solidFill>
                <a:srgbClr val="374151"/>
              </a:solidFill>
              <a:latin typeface="Microsoft JhengHei"/>
            </a:endParaRP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• 課與課之間，難以掌握學生有沒有真的練琴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• 練習成果分散在訊息、檔案、口頭回報，難以追蹤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• 缺少可持續累積的練習紀錄與回饋迴路</a:t>
            </a:r>
          </a:p>
          <a:p>
            <a:pPr>
              <a:spcAft>
                <a:spcPts val="800"/>
              </a:spcAft>
            </a:pPr>
            <a:endParaRPr sz="2000" b="0">
              <a:solidFill>
                <a:srgbClr val="374151"/>
              </a:solidFill>
              <a:latin typeface="Microsoft JhengHei"/>
            </a:endParaRP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因此專案原點是：讓老師更容易掌握與追蹤學生練習狀況。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JhengHei"/>
              </a:rPr>
              <a:t>NoteAdventure ｜ 期中專題報告 ｜ 3/16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688775" y="6446520"/>
            <a:ext cx="201168" cy="201168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871655" y="0"/>
            <a:ext cx="320040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551615" y="0"/>
            <a:ext cx="320040" cy="256032"/>
          </a:xfrm>
          <a:prstGeom prst="rect">
            <a:avLst/>
          </a:prstGeom>
          <a:solidFill>
            <a:srgbClr val="FF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320040" cy="256032"/>
          </a:xfrm>
          <a:prstGeom prst="rect">
            <a:avLst/>
          </a:prstGeom>
          <a:solidFill>
            <a:srgbClr val="FFD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911535" y="0"/>
            <a:ext cx="32004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Microsoft JhengHei"/>
              </a:rPr>
              <a:t>解方方向：遊戲化練習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941832"/>
            <a:ext cx="1097280" cy="7315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356616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50876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Microsoft JhengHei"/>
              </a:rPr>
              <a:t>學生端動機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01168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• 上傳練習錄音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• 完成任務拿 XP／金幣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• 寵物成長與商店獎勵</a:t>
            </a:r>
          </a:p>
          <a:p>
            <a:pPr>
              <a:spcAft>
                <a:spcPts val="500"/>
              </a:spcAft>
            </a:pPr>
            <a:endParaRPr sz="1600" b="0">
              <a:solidFill>
                <a:srgbClr val="374151"/>
              </a:solidFill>
              <a:latin typeface="Microsoft JhengHei"/>
            </a:endParaRP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希望學生因為「想上傳」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而增加彈琴次數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280160"/>
            <a:ext cx="356616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150876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Microsoft JhengHei"/>
              </a:rPr>
              <a:t>老師端價值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01168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• 建立學生與任務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• 指派任務並看進度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• 查看上傳紀錄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• 管理商店與兌換</a:t>
            </a:r>
          </a:p>
          <a:p>
            <a:pPr>
              <a:spcAft>
                <a:spcPts val="500"/>
              </a:spcAft>
            </a:pPr>
            <a:endParaRPr sz="1600" b="0">
              <a:solidFill>
                <a:srgbClr val="374151"/>
              </a:solidFill>
              <a:latin typeface="Microsoft JhengHei"/>
            </a:endParaRP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把零散練習變成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可追蹤的資料流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280160"/>
            <a:ext cx="356616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150876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Microsoft JhengHei"/>
              </a:rPr>
              <a:t>核心迴路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1168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指派任務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→ 上傳練習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→ 更新進度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→ 發放獎勵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→ 寵物成長</a:t>
            </a:r>
          </a:p>
          <a:p>
            <a:pPr>
              <a:spcAft>
                <a:spcPts val="500"/>
              </a:spcAft>
            </a:pPr>
            <a:endParaRPr sz="1600" b="0">
              <a:solidFill>
                <a:srgbClr val="374151"/>
              </a:solidFill>
              <a:latin typeface="Microsoft JhengHei"/>
            </a:endParaRP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用獎勵把練習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變成可持續行為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JhengHei"/>
              </a:rPr>
              <a:t>NoteAdventure ｜ 期中專題報告 ｜ 4/16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688775" y="6446520"/>
            <a:ext cx="201168" cy="201168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871655" y="0"/>
            <a:ext cx="320040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551615" y="0"/>
            <a:ext cx="320040" cy="256032"/>
          </a:xfrm>
          <a:prstGeom prst="rect">
            <a:avLst/>
          </a:prstGeom>
          <a:solidFill>
            <a:srgbClr val="FF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320040" cy="256032"/>
          </a:xfrm>
          <a:prstGeom prst="rect">
            <a:avLst/>
          </a:prstGeom>
          <a:solidFill>
            <a:srgbClr val="FFD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911535" y="0"/>
            <a:ext cx="32004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Microsoft JhengHei"/>
              </a:rPr>
              <a:t>開發演進：三個階段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941832"/>
            <a:ext cx="1097280" cy="7315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3566160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73736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Microsoft JhengHei"/>
              </a:rPr>
              <a:t>① Console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 b="0">
                <a:solidFill>
                  <a:srgbClr val="374151"/>
                </a:solidFill>
                <a:latin typeface="Microsoft JhengHei"/>
              </a:rPr>
              <a:t>先把規則與流程寫清楚</a:t>
            </a:r>
          </a:p>
          <a:p>
            <a:pPr>
              <a:spcAft>
                <a:spcPts val="500"/>
              </a:spcAft>
            </a:pPr>
            <a:r>
              <a:rPr sz="1800" b="0">
                <a:solidFill>
                  <a:srgbClr val="374151"/>
                </a:solidFill>
                <a:latin typeface="Microsoft JhengHei"/>
              </a:rPr>
              <a:t>確認業務邏輯正確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463040"/>
            <a:ext cx="3566160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17720" y="173736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Microsoft JhengHei"/>
              </a:rPr>
              <a:t>② Streamlit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37744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 b="0">
                <a:solidFill>
                  <a:srgbClr val="374151"/>
                </a:solidFill>
                <a:latin typeface="Microsoft JhengHei"/>
              </a:rPr>
              <a:t>用同一套邏輯接網頁</a:t>
            </a:r>
          </a:p>
          <a:p>
            <a:pPr>
              <a:spcAft>
                <a:spcPts val="500"/>
              </a:spcAft>
            </a:pPr>
            <a:r>
              <a:rPr sz="1800" b="0">
                <a:solidFill>
                  <a:srgbClr val="374151"/>
                </a:solidFill>
                <a:latin typeface="Microsoft JhengHei"/>
              </a:rPr>
              <a:t>讓老師能實際操作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463040"/>
            <a:ext cx="3566160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58200" y="173736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Microsoft JhengHei"/>
              </a:rPr>
              <a:t>③ 學生專用 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37744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 b="0">
                <a:solidFill>
                  <a:srgbClr val="374151"/>
                </a:solidFill>
                <a:latin typeface="Microsoft JhengHei"/>
              </a:rPr>
              <a:t>補上溫度與沉浸感</a:t>
            </a:r>
          </a:p>
          <a:p>
            <a:pPr>
              <a:spcAft>
                <a:spcPts val="500"/>
              </a:spcAft>
            </a:pPr>
            <a:r>
              <a:rPr sz="1800" b="0">
                <a:solidFill>
                  <a:srgbClr val="374151"/>
                </a:solidFill>
                <a:latin typeface="Microsoft JhengHei"/>
              </a:rPr>
              <a:t>提高學生使用意願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JhengHei"/>
              </a:rPr>
              <a:t>NoteAdventure ｜ 期中專題報告 ｜ 5/16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688775" y="6446520"/>
            <a:ext cx="201168" cy="201168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871655" y="0"/>
            <a:ext cx="320040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551615" y="0"/>
            <a:ext cx="320040" cy="256032"/>
          </a:xfrm>
          <a:prstGeom prst="rect">
            <a:avLst/>
          </a:prstGeom>
          <a:solidFill>
            <a:srgbClr val="FF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320040" cy="256032"/>
          </a:xfrm>
          <a:prstGeom prst="rect">
            <a:avLst/>
          </a:prstGeom>
          <a:solidFill>
            <a:srgbClr val="FFD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911535" y="0"/>
            <a:ext cx="32004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Microsoft JhengHei"/>
              </a:rPr>
              <a:t>階段一：Console 操作畫面（一小段）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941832"/>
            <a:ext cx="1097280" cy="7315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0515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先用文字選單把流程跑通，不急著做漂亮畫面。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重點：驗證登入、任務、上傳、獎勵等規則。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965960"/>
            <a:ext cx="3749039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057400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5A52"/>
                </a:solidFill>
                <a:latin typeface="Microsoft JhengHei"/>
              </a:rPr>
              <a:t>主選單</a:t>
            </a:r>
          </a:p>
        </p:txBody>
      </p:sp>
      <p:pic>
        <p:nvPicPr>
          <p:cNvPr id="13" name="Picture 12" descr="c01_console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331720"/>
            <a:ext cx="3474721" cy="34747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297680" y="1965960"/>
            <a:ext cx="3749039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2057400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5A52"/>
                </a:solidFill>
                <a:latin typeface="Microsoft JhengHei"/>
              </a:rPr>
              <a:t>老師選單</a:t>
            </a:r>
          </a:p>
        </p:txBody>
      </p:sp>
      <p:pic>
        <p:nvPicPr>
          <p:cNvPr id="16" name="Picture 15" descr="c02_console_tea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331720"/>
            <a:ext cx="3474720" cy="347472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229600" y="1965960"/>
            <a:ext cx="3749039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66760" y="2057400"/>
            <a:ext cx="3474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5A52"/>
                </a:solidFill>
                <a:latin typeface="Microsoft JhengHei"/>
              </a:rPr>
              <a:t>學生選單</a:t>
            </a:r>
          </a:p>
        </p:txBody>
      </p:sp>
      <p:pic>
        <p:nvPicPr>
          <p:cNvPr id="19" name="Picture 18" descr="c03_console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2331720"/>
            <a:ext cx="3474720" cy="34747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JhengHei"/>
              </a:rPr>
              <a:t>NoteAdventure ｜ 期中專題報告 ｜ 6/16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88775" y="6446520"/>
            <a:ext cx="201168" cy="201168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871655" y="0"/>
            <a:ext cx="320040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551615" y="0"/>
            <a:ext cx="320040" cy="256032"/>
          </a:xfrm>
          <a:prstGeom prst="rect">
            <a:avLst/>
          </a:prstGeom>
          <a:solidFill>
            <a:srgbClr val="FF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320040" cy="256032"/>
          </a:xfrm>
          <a:prstGeom prst="rect">
            <a:avLst/>
          </a:prstGeom>
          <a:solidFill>
            <a:srgbClr val="FFD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911535" y="0"/>
            <a:ext cx="32004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Microsoft JhengHei"/>
              </a:rPr>
              <a:t>階段二：Streamlit 老師前端操作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941832"/>
            <a:ext cx="1097280" cy="7315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0515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同一套 Flask API，老師用 Streamlit 做管理：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首頁掌握全班狀態，左側可切換學生、任務、上傳、商店。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920240"/>
            <a:ext cx="557784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011680"/>
            <a:ext cx="5303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5A52"/>
                </a:solidFill>
                <a:latin typeface="Microsoft JhengHei"/>
              </a:rPr>
              <a:t>老師首頁 Dashboard</a:t>
            </a:r>
          </a:p>
        </p:txBody>
      </p:sp>
      <p:pic>
        <p:nvPicPr>
          <p:cNvPr id="13" name="Picture 12" descr="02_teacher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5303520" cy="356616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17920" y="1920240"/>
            <a:ext cx="557784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55080" y="2011680"/>
            <a:ext cx="5303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5A52"/>
                </a:solidFill>
                <a:latin typeface="Microsoft JhengHei"/>
              </a:rPr>
              <a:t>學生列表</a:t>
            </a:r>
          </a:p>
        </p:txBody>
      </p:sp>
      <p:pic>
        <p:nvPicPr>
          <p:cNvPr id="16" name="Picture 15" descr="03_teacher_stud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286000"/>
            <a:ext cx="5303520" cy="35661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JhengHei"/>
              </a:rPr>
              <a:t>NoteAdventure ｜ 期中專題報告 ｜ 7/16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688775" y="6446520"/>
            <a:ext cx="201168" cy="201168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871655" y="0"/>
            <a:ext cx="320040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551615" y="0"/>
            <a:ext cx="320040" cy="256032"/>
          </a:xfrm>
          <a:prstGeom prst="rect">
            <a:avLst/>
          </a:prstGeom>
          <a:solidFill>
            <a:srgbClr val="FF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320040" cy="256032"/>
          </a:xfrm>
          <a:prstGeom prst="rect">
            <a:avLst/>
          </a:prstGeom>
          <a:solidFill>
            <a:srgbClr val="FFD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911535" y="0"/>
            <a:ext cx="32004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Microsoft JhengHei"/>
              </a:rPr>
              <a:t>Streamlit：任務／上傳／商店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941832"/>
            <a:ext cx="1097280" cy="7315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65760" y="1143000"/>
            <a:ext cx="56692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216152"/>
            <a:ext cx="5394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5A52"/>
                </a:solidFill>
                <a:latin typeface="Microsoft JhengHei"/>
              </a:rPr>
              <a:t>任務清單</a:t>
            </a:r>
          </a:p>
        </p:txBody>
      </p:sp>
      <p:pic>
        <p:nvPicPr>
          <p:cNvPr id="12" name="Picture 11" descr="04_teacher_que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90472"/>
            <a:ext cx="5394960" cy="196596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263640" y="1143000"/>
            <a:ext cx="56692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1216152"/>
            <a:ext cx="5394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5A52"/>
                </a:solidFill>
                <a:latin typeface="Microsoft JhengHei"/>
              </a:rPr>
              <a:t>上傳紀錄</a:t>
            </a:r>
          </a:p>
        </p:txBody>
      </p:sp>
      <p:pic>
        <p:nvPicPr>
          <p:cNvPr id="15" name="Picture 14" descr="05_teacher_uploa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90472"/>
            <a:ext cx="5394960" cy="196596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365760" y="3794760"/>
            <a:ext cx="56692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3867912"/>
            <a:ext cx="5394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5A52"/>
                </a:solidFill>
                <a:latin typeface="Microsoft JhengHei"/>
              </a:rPr>
              <a:t>商品清單</a:t>
            </a:r>
          </a:p>
        </p:txBody>
      </p:sp>
      <p:pic>
        <p:nvPicPr>
          <p:cNvPr id="18" name="Picture 17" descr="06_teacher_sh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142232"/>
            <a:ext cx="5394960" cy="196596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263640" y="3794760"/>
            <a:ext cx="56692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3867912"/>
            <a:ext cx="5394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5A52"/>
                </a:solidFill>
                <a:latin typeface="Microsoft JhengHei"/>
              </a:rPr>
              <a:t>待兌換商品</a:t>
            </a:r>
          </a:p>
        </p:txBody>
      </p:sp>
      <p:pic>
        <p:nvPicPr>
          <p:cNvPr id="21" name="Picture 20" descr="07_teacher_redee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142232"/>
            <a:ext cx="5394960" cy="19659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JhengHei"/>
              </a:rPr>
              <a:t>NoteAdventure ｜ 期中專題報告 ｜ 8/16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688775" y="6446520"/>
            <a:ext cx="201168" cy="201168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871655" y="0"/>
            <a:ext cx="320040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551615" y="0"/>
            <a:ext cx="320040" cy="256032"/>
          </a:xfrm>
          <a:prstGeom prst="rect">
            <a:avLst/>
          </a:prstGeom>
          <a:solidFill>
            <a:srgbClr val="FF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320040" cy="256032"/>
          </a:xfrm>
          <a:prstGeom prst="rect">
            <a:avLst/>
          </a:prstGeom>
          <a:solidFill>
            <a:srgbClr val="FFD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911535" y="0"/>
            <a:ext cx="32004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Microsoft JhengHei"/>
              </a:rPr>
              <a:t>關鍵轉折：操作頁面溫度不足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941832"/>
            <a:ext cx="1097280" cy="7315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2920" y="1280160"/>
            <a:ext cx="539496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09_student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5029200" cy="411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17920" y="155448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374151"/>
                </a:solidFill>
                <a:latin typeface="Microsoft JhengHei"/>
              </a:rPr>
              <a:t>左圖是早期 Streamlit 學生頁：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374151"/>
                </a:solidFill>
                <a:latin typeface="Microsoft JhengHei"/>
              </a:rPr>
              <a:t>功能齊全，但偏工具感。</a:t>
            </a:r>
          </a:p>
          <a:p>
            <a:pPr>
              <a:spcAft>
                <a:spcPts val="800"/>
              </a:spcAft>
            </a:pPr>
            <a:endParaRPr sz="1800" b="0">
              <a:solidFill>
                <a:srgbClr val="374151"/>
              </a:solidFill>
              <a:latin typeface="Microsoft JhengHei"/>
            </a:endParaRP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374151"/>
                </a:solidFill>
                <a:latin typeface="Microsoft JhengHei"/>
              </a:rPr>
              <a:t>若學生不想開，上傳就變少；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374151"/>
                </a:solidFill>
                <a:latin typeface="Microsoft JhengHei"/>
              </a:rPr>
              <a:t>上傳變少，老師又追不到練習。</a:t>
            </a:r>
          </a:p>
          <a:p>
            <a:pPr>
              <a:spcAft>
                <a:spcPts val="800"/>
              </a:spcAft>
            </a:pPr>
            <a:endParaRPr sz="1800" b="0">
              <a:solidFill>
                <a:srgbClr val="374151"/>
              </a:solidFill>
              <a:latin typeface="Microsoft JhengHei"/>
            </a:endParaRP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374151"/>
                </a:solidFill>
                <a:latin typeface="Microsoft JhengHei"/>
              </a:rPr>
              <a:t>下一步：做學生專用溫暖 UI，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374151"/>
                </a:solidFill>
                <a:latin typeface="Microsoft JhengHei"/>
              </a:rPr>
              <a:t>讓遊戲化真的被使用。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JhengHei"/>
              </a:rPr>
              <a:t>NoteAdventure ｜ 期中專題報告 ｜ 9/16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688775" y="6446520"/>
            <a:ext cx="201168" cy="201168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871655" y="0"/>
            <a:ext cx="320040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551615" y="0"/>
            <a:ext cx="320040" cy="256032"/>
          </a:xfrm>
          <a:prstGeom prst="rect">
            <a:avLst/>
          </a:prstGeom>
          <a:solidFill>
            <a:srgbClr val="FF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320040" cy="256032"/>
          </a:xfrm>
          <a:prstGeom prst="rect">
            <a:avLst/>
          </a:prstGeom>
          <a:solidFill>
            <a:srgbClr val="FFD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911535" y="0"/>
            <a:ext cx="32004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Microsoft JhengHei"/>
              </a:rPr>
              <a:t>階段三：學生專用 UI（主頁地圖）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941832"/>
            <a:ext cx="1097280" cy="7315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0515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Flask 提供 HTML／CSS／JS：點選琴房、任務、商店、寵物、教室。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1554480"/>
            <a:ext cx="99669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html_02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3559" y="1775029"/>
            <a:ext cx="6914402" cy="42223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JhengHei"/>
              </a:rPr>
              <a:t>NoteAdventure ｜ 期中專題報告 ｜ 10/16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688775" y="6446520"/>
            <a:ext cx="201168" cy="201168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871655" y="0"/>
            <a:ext cx="320040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551615" y="0"/>
            <a:ext cx="320040" cy="256032"/>
          </a:xfrm>
          <a:prstGeom prst="rect">
            <a:avLst/>
          </a:prstGeom>
          <a:solidFill>
            <a:srgbClr val="FF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320040" cy="256032"/>
          </a:xfrm>
          <a:prstGeom prst="rect">
            <a:avLst/>
          </a:prstGeom>
          <a:solidFill>
            <a:srgbClr val="FFD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911535" y="0"/>
            <a:ext cx="32004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Microsoft JhengHei"/>
              </a:rPr>
              <a:t>學生 UI 實際操作畫面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941832"/>
            <a:ext cx="1097280" cy="7315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65760" y="1143000"/>
            <a:ext cx="56692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216152"/>
            <a:ext cx="5394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5A52"/>
                </a:solidFill>
                <a:latin typeface="Microsoft JhengHei"/>
              </a:rPr>
              <a:t>琴房｜上傳練習</a:t>
            </a:r>
          </a:p>
        </p:txBody>
      </p:sp>
      <p:pic>
        <p:nvPicPr>
          <p:cNvPr id="12" name="Picture 11" descr="html_03_prac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90472"/>
            <a:ext cx="5394960" cy="196596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263640" y="1143000"/>
            <a:ext cx="56692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1216152"/>
            <a:ext cx="5394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5A52"/>
                </a:solidFill>
                <a:latin typeface="Microsoft JhengHei"/>
              </a:rPr>
              <a:t>任務欄</a:t>
            </a:r>
          </a:p>
        </p:txBody>
      </p:sp>
      <p:pic>
        <p:nvPicPr>
          <p:cNvPr id="15" name="Picture 14" descr="html_04_ques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90472"/>
            <a:ext cx="5394960" cy="196596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365760" y="3794760"/>
            <a:ext cx="56692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3867912"/>
            <a:ext cx="5394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5A52"/>
                </a:solidFill>
                <a:latin typeface="Microsoft JhengHei"/>
              </a:rPr>
              <a:t>寵物</a:t>
            </a:r>
          </a:p>
        </p:txBody>
      </p:sp>
      <p:pic>
        <p:nvPicPr>
          <p:cNvPr id="18" name="Picture 17" descr="html_05_p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142232"/>
            <a:ext cx="5394960" cy="196596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263640" y="3794760"/>
            <a:ext cx="56692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3867912"/>
            <a:ext cx="5394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5A52"/>
                </a:solidFill>
                <a:latin typeface="Microsoft JhengHei"/>
              </a:rPr>
              <a:t>商店</a:t>
            </a:r>
          </a:p>
        </p:txBody>
      </p:sp>
      <p:pic>
        <p:nvPicPr>
          <p:cNvPr id="21" name="Picture 20" descr="html_06_sh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142232"/>
            <a:ext cx="5394960" cy="19659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JhengHei"/>
              </a:rPr>
              <a:t>NoteAdventure ｜ 期中專題報告 ｜ 11/16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688775" y="6446520"/>
            <a:ext cx="201168" cy="201168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871655" y="0"/>
            <a:ext cx="320040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551615" y="0"/>
            <a:ext cx="320040" cy="256032"/>
          </a:xfrm>
          <a:prstGeom prst="rect">
            <a:avLst/>
          </a:prstGeom>
          <a:solidFill>
            <a:srgbClr val="FF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320040" cy="256032"/>
          </a:xfrm>
          <a:prstGeom prst="rect">
            <a:avLst/>
          </a:prstGeom>
          <a:solidFill>
            <a:srgbClr val="FFD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911535" y="0"/>
            <a:ext cx="32004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Microsoft JhengHei"/>
              </a:rPr>
              <a:t>學生 UI：教室看板（兩廳院節目）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941832"/>
            <a:ext cx="1097280" cy="7315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0515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教室頁串接兩廳院近一個月音樂節目，海報＋資訊自動輪播。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1554480"/>
            <a:ext cx="99669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html_07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737360"/>
            <a:ext cx="9601200" cy="4297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JhengHei"/>
              </a:rPr>
              <a:t>NoteAdventure ｜ 期中專題報告 ｜ 12/16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688775" y="6446520"/>
            <a:ext cx="201168" cy="201168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871655" y="0"/>
            <a:ext cx="320040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551615" y="0"/>
            <a:ext cx="320040" cy="256032"/>
          </a:xfrm>
          <a:prstGeom prst="rect">
            <a:avLst/>
          </a:prstGeom>
          <a:solidFill>
            <a:srgbClr val="FF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320040" cy="256032"/>
          </a:xfrm>
          <a:prstGeom prst="rect">
            <a:avLst/>
          </a:prstGeom>
          <a:solidFill>
            <a:srgbClr val="FFD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911535" y="0"/>
            <a:ext cx="32004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Microsoft JhengHei"/>
              </a:rPr>
              <a:t>目前架構：一套邏輯，兩套介面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941832"/>
            <a:ext cx="1097280" cy="7315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學生 HTML／JS  ──┐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                  ├──→  Flask API  ──→  MySQL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老師 Streamlit ──┘         │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                            └── services（業務邏輯）</a:t>
            </a:r>
          </a:p>
          <a:p>
            <a:pPr>
              <a:spcAft>
                <a:spcPts val="800"/>
              </a:spcAft>
            </a:pPr>
            <a:endParaRPr sz="2000" b="0">
              <a:solidFill>
                <a:srgbClr val="374151"/>
              </a:solidFill>
              <a:latin typeface="Microsoft JhengHei"/>
            </a:endParaRP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• Console 時期長出的服務層，成為 API 的基礎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• 老師端偏管理效率；學生端偏使用溫度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• 兩邊共用登入、任務、上傳、獎勵等規則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JhengHei"/>
              </a:rPr>
              <a:t>NoteAdventure ｜ 期中專題報告 ｜ 13/16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688775" y="6446520"/>
            <a:ext cx="201168" cy="201168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871655" y="0"/>
            <a:ext cx="320040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551615" y="0"/>
            <a:ext cx="320040" cy="256032"/>
          </a:xfrm>
          <a:prstGeom prst="rect">
            <a:avLst/>
          </a:prstGeom>
          <a:solidFill>
            <a:srgbClr val="FF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320040" cy="256032"/>
          </a:xfrm>
          <a:prstGeom prst="rect">
            <a:avLst/>
          </a:prstGeom>
          <a:solidFill>
            <a:srgbClr val="FFD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911535" y="0"/>
            <a:ext cx="32004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Microsoft JhengHei"/>
              </a:rPr>
              <a:t>重要功能邏輯（精簡）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941832"/>
            <a:ext cx="1097280" cy="7315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7200" y="1234440"/>
            <a:ext cx="548640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417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Microsoft JhengHei"/>
              </a:rPr>
              <a:t>練習上傳 → 任務進度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6596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1. 學生上傳練習錄音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2. 寫入 practice_upload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3. 依任務條件更新 student_quest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4. 達標後完成任務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5. 發 XP／金幣（避免重複發獎）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6. 依累積 XP 更新寵物階段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234440"/>
            <a:ext cx="53949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Microsoft JhengHei"/>
              </a:rPr>
              <a:t>其他關鍵能力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965960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• 老師建立／指派任務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• 商店購買與兌換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• Dashboard 掌握整體狀態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• 教室看板：兩廳院音樂節目</a:t>
            </a:r>
          </a:p>
          <a:p>
            <a:pPr>
              <a:spcAft>
                <a:spcPts val="500"/>
              </a:spcAft>
            </a:pPr>
            <a:endParaRPr sz="1600" b="0">
              <a:solidFill>
                <a:srgbClr val="374151"/>
              </a:solidFill>
              <a:latin typeface="Microsoft JhengHei"/>
            </a:endParaRP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原則：先保證規則正確，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374151"/>
                </a:solidFill>
                <a:latin typeface="Microsoft JhengHei"/>
              </a:rPr>
              <a:t>再用介面提高使用率。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JhengHei"/>
              </a:rPr>
              <a:t>NoteAdventure ｜ 期中專題報告 ｜ 14/16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688775" y="6446520"/>
            <a:ext cx="201168" cy="201168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871655" y="0"/>
            <a:ext cx="320040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551615" y="0"/>
            <a:ext cx="320040" cy="256032"/>
          </a:xfrm>
          <a:prstGeom prst="rect">
            <a:avLst/>
          </a:prstGeom>
          <a:solidFill>
            <a:srgbClr val="FF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320040" cy="256032"/>
          </a:xfrm>
          <a:prstGeom prst="rect">
            <a:avLst/>
          </a:prstGeom>
          <a:solidFill>
            <a:srgbClr val="FFD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911535" y="0"/>
            <a:ext cx="32004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Microsoft JhengHei"/>
              </a:rPr>
              <a:t>目前進度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941832"/>
            <a:ext cx="1097280" cy="7315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374151"/>
                </a:solidFill>
                <a:latin typeface="Microsoft JhengHei"/>
              </a:rPr>
              <a:t>已完成：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374151"/>
                </a:solidFill>
                <a:latin typeface="Microsoft JhengHei"/>
              </a:rPr>
              <a:t>• Console 核心流程與資料庫規則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374151"/>
                </a:solidFill>
                <a:latin typeface="Microsoft JhengHei"/>
              </a:rPr>
              <a:t>• Flask API（登入、任務、上傳、商店、寵物、Dashboard、教室看板）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374151"/>
                </a:solidFill>
                <a:latin typeface="Microsoft JhengHei"/>
              </a:rPr>
              <a:t>• Streamlit 老師端操作介面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374151"/>
                </a:solidFill>
                <a:latin typeface="Microsoft JhengHei"/>
              </a:rPr>
              <a:t>• 學生 HTML UI（主頁、琴房、任務、商店、寵物、設定、教室）</a:t>
            </a:r>
          </a:p>
          <a:p>
            <a:pPr>
              <a:spcAft>
                <a:spcPts val="800"/>
              </a:spcAft>
            </a:pPr>
            <a:endParaRPr sz="1800" b="0">
              <a:solidFill>
                <a:srgbClr val="374151"/>
              </a:solidFill>
              <a:latin typeface="Microsoft JhengHei"/>
            </a:endParaRP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374151"/>
                </a:solidFill>
                <a:latin typeface="Microsoft JhengHei"/>
              </a:rPr>
              <a:t>持續優化：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374151"/>
                </a:solidFill>
                <a:latin typeface="Microsoft JhengHei"/>
              </a:rPr>
              <a:t>• 背包完整頁、更多任務條件、使用體驗細節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JhengHei"/>
              </a:rPr>
              <a:t>NoteAdventure ｜ 期中專題報告 ｜ 15/16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688775" y="6446520"/>
            <a:ext cx="201168" cy="201168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871655" y="0"/>
            <a:ext cx="320040" cy="25603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551615" y="0"/>
            <a:ext cx="320040" cy="256032"/>
          </a:xfrm>
          <a:prstGeom prst="rect">
            <a:avLst/>
          </a:prstGeom>
          <a:solidFill>
            <a:srgbClr val="FF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320040" cy="256032"/>
          </a:xfrm>
          <a:prstGeom prst="rect">
            <a:avLst/>
          </a:prstGeom>
          <a:solidFill>
            <a:srgbClr val="FFD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911535" y="0"/>
            <a:ext cx="32004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937"/>
                </a:solidFill>
                <a:latin typeface="Microsoft JhengHei"/>
              </a:rPr>
              <a:t>結語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941832"/>
            <a:ext cx="1097280" cy="73152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NoteAdventure 不是先做畫面，而是：</a:t>
            </a:r>
          </a:p>
          <a:p>
            <a:pPr>
              <a:spcAft>
                <a:spcPts val="800"/>
              </a:spcAft>
            </a:pPr>
            <a:endParaRPr sz="2000" b="0">
              <a:solidFill>
                <a:srgbClr val="374151"/>
              </a:solidFill>
              <a:latin typeface="Microsoft JhengHei"/>
            </a:endParaRP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痛點 → 遊戲化解方 → 邏輯驗證（Console）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→ 管理介面（Streamlit）→ 學生溫度 UI</a:t>
            </a:r>
          </a:p>
          <a:p>
            <a:pPr>
              <a:spcAft>
                <a:spcPts val="800"/>
              </a:spcAft>
            </a:pPr>
            <a:endParaRPr sz="2000" b="0">
              <a:solidFill>
                <a:srgbClr val="374151"/>
              </a:solidFill>
              <a:latin typeface="Microsoft JhengHei"/>
            </a:endParaRP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希望最後同時做到：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老師追得到練習，學生也願意持續上傳練琴。</a:t>
            </a:r>
          </a:p>
          <a:p>
            <a:pPr>
              <a:spcAft>
                <a:spcPts val="800"/>
              </a:spcAft>
            </a:pPr>
            <a:endParaRPr sz="2000" b="0">
              <a:solidFill>
                <a:srgbClr val="374151"/>
              </a:solidFill>
              <a:latin typeface="Microsoft JhengHei"/>
            </a:endParaRP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74151"/>
                </a:solidFill>
                <a:latin typeface="Microsoft JhengHei"/>
              </a:rPr>
              <a:t>謝謝聆聽，歡迎提問。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JhengHei"/>
              </a:rPr>
              <a:t>NoteAdventure ｜ 期中專題報告 ｜ 16/16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688775" y="6446520"/>
            <a:ext cx="201168" cy="201168"/>
          </a:xfrm>
          <a:prstGeom prst="rect">
            <a:avLst/>
          </a:prstGeom>
          <a:solidFill>
            <a:srgbClr val="FF5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544</Words>
  <Application>Microsoft Office PowerPoint</Application>
  <PresentationFormat>寬螢幕</PresentationFormat>
  <Paragraphs>150</Paragraphs>
  <Slides>16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0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student</cp:lastModifiedBy>
  <cp:revision>2</cp:revision>
  <dcterms:created xsi:type="dcterms:W3CDTF">2013-01-27T09:14:16Z</dcterms:created>
  <dcterms:modified xsi:type="dcterms:W3CDTF">2026-08-09T05:49:20Z</dcterms:modified>
  <cp:category/>
</cp:coreProperties>
</file>